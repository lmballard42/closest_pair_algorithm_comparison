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20"/>
  </p:notesMasterIdLst>
  <p:sldIdLst>
    <p:sldId id="335" r:id="rId5"/>
    <p:sldId id="351" r:id="rId6"/>
    <p:sldId id="343" r:id="rId7"/>
    <p:sldId id="347" r:id="rId8"/>
    <p:sldId id="321" r:id="rId9"/>
    <p:sldId id="359" r:id="rId10"/>
    <p:sldId id="358" r:id="rId11"/>
    <p:sldId id="354" r:id="rId12"/>
    <p:sldId id="348" r:id="rId13"/>
    <p:sldId id="356" r:id="rId14"/>
    <p:sldId id="352" r:id="rId15"/>
    <p:sldId id="355" r:id="rId16"/>
    <p:sldId id="360" r:id="rId17"/>
    <p:sldId id="353" r:id="rId18"/>
    <p:sldId id="35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72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9EAA75-9301-6605-33B0-7BBE3DC54370}" v="179" dt="2026-04-26T23:16:48.263"/>
    <p1510:client id="{4CAFC20C-9398-5EE9-8FEF-47138E417A0B}" v="742" dt="2026-04-27T13:54:33.124"/>
    <p1510:client id="{851AA497-DC9E-4400-9384-9CFB3E09F321}" v="1" dt="2026-04-27T18:53:56.200"/>
    <p1510:client id="{85ED6188-1819-3FB3-DE9F-C1D50D28FE64}" v="235" dt="2026-04-27T12:00:18.4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>
        <p:guide orient="horz" pos="367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dney F" userId="1b1a22377a5e92eb" providerId="LiveId" clId="{953DCEB0-9295-4200-8A9D-D426C90B077A}"/>
    <pc:docChg chg="custSel addSld modSld">
      <pc:chgData name="Sydney F" userId="1b1a22377a5e92eb" providerId="LiveId" clId="{953DCEB0-9295-4200-8A9D-D426C90B077A}" dt="2026-04-27T18:54:09.698" v="21" actId="478"/>
      <pc:docMkLst>
        <pc:docMk/>
      </pc:docMkLst>
      <pc:sldChg chg="addSp delSp modSp new mod">
        <pc:chgData name="Sydney F" userId="1b1a22377a5e92eb" providerId="LiveId" clId="{953DCEB0-9295-4200-8A9D-D426C90B077A}" dt="2026-04-27T18:54:09.698" v="21" actId="478"/>
        <pc:sldMkLst>
          <pc:docMk/>
          <pc:sldMk cId="2435647483" sldId="360"/>
        </pc:sldMkLst>
        <pc:spChg chg="del">
          <ac:chgData name="Sydney F" userId="1b1a22377a5e92eb" providerId="LiveId" clId="{953DCEB0-9295-4200-8A9D-D426C90B077A}" dt="2026-04-27T18:53:06.237" v="2" actId="478"/>
          <ac:spMkLst>
            <pc:docMk/>
            <pc:sldMk cId="2435647483" sldId="360"/>
            <ac:spMk id="2" creationId="{5E9C98D6-7368-B8FC-B55C-31F3E6E7F336}"/>
          </ac:spMkLst>
        </pc:spChg>
        <pc:spChg chg="mod">
          <ac:chgData name="Sydney F" userId="1b1a22377a5e92eb" providerId="LiveId" clId="{953DCEB0-9295-4200-8A9D-D426C90B077A}" dt="2026-04-27T18:53:39.898" v="17" actId="20577"/>
          <ac:spMkLst>
            <pc:docMk/>
            <pc:sldMk cId="2435647483" sldId="360"/>
            <ac:spMk id="3" creationId="{5CC851C4-ACBD-5CD5-C4E2-6619058B9448}"/>
          </ac:spMkLst>
        </pc:spChg>
        <pc:spChg chg="del">
          <ac:chgData name="Sydney F" userId="1b1a22377a5e92eb" providerId="LiveId" clId="{953DCEB0-9295-4200-8A9D-D426C90B077A}" dt="2026-04-27T18:54:09.698" v="21" actId="478"/>
          <ac:spMkLst>
            <pc:docMk/>
            <pc:sldMk cId="2435647483" sldId="360"/>
            <ac:spMk id="4" creationId="{A8832890-ECDF-9B75-D8C0-C50FB8C026D5}"/>
          </ac:spMkLst>
        </pc:spChg>
        <pc:spChg chg="del">
          <ac:chgData name="Sydney F" userId="1b1a22377a5e92eb" providerId="LiveId" clId="{953DCEB0-9295-4200-8A9D-D426C90B077A}" dt="2026-04-27T18:54:07.516" v="20" actId="478"/>
          <ac:spMkLst>
            <pc:docMk/>
            <pc:sldMk cId="2435647483" sldId="360"/>
            <ac:spMk id="5" creationId="{406B90B8-CEC7-4483-8AAF-FDEDBD267C9D}"/>
          </ac:spMkLst>
        </pc:spChg>
        <pc:spChg chg="add mod">
          <ac:chgData name="Sydney F" userId="1b1a22377a5e92eb" providerId="LiveId" clId="{953DCEB0-9295-4200-8A9D-D426C90B077A}" dt="2026-04-27T18:53:45.813" v="19" actId="20577"/>
          <ac:spMkLst>
            <pc:docMk/>
            <pc:sldMk cId="2435647483" sldId="360"/>
            <ac:spMk id="8" creationId="{0EB9F5D8-5386-5F74-459B-CC15CEAE423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397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DA2A6-DB86-9EF3-A63C-1B28C4E74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B532A8-2283-A90E-AFD0-291A794C98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DFE80A-884B-6B6C-7F12-8FB779134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94ED8-3510-1F21-4184-60F6422480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529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31DFB3-42E8-9540-92FB-4AE3F4203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1"/>
            <a:ext cx="11158847" cy="58248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13C1B90-0A14-7B4B-B05B-357A6A88291E}"/>
              </a:ext>
            </a:extLst>
          </p:cNvPr>
          <p:cNvCxnSpPr>
            <a:cxnSpLocks/>
          </p:cNvCxnSpPr>
          <p:nvPr userDrawn="1"/>
        </p:nvCxnSpPr>
        <p:spPr>
          <a:xfrm>
            <a:off x="1036261" y="4159793"/>
            <a:ext cx="10122586" cy="0"/>
          </a:xfrm>
          <a:prstGeom prst="line">
            <a:avLst/>
          </a:prstGeom>
          <a:ln w="1270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0097E88-8912-8A4F-9D00-BDA132434F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33153" y="4728131"/>
            <a:ext cx="7806047" cy="2811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58E2CE6-6A25-40B9-BD31-82C75073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313" y="1656344"/>
            <a:ext cx="7805737" cy="2113466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7687ADE-BAA9-634F-96B8-ACF4EE9BDF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-6836"/>
            <a:ext cx="11158847" cy="58248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C26CF-26CC-354C-BB60-AD3E01D575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700" y="2286000"/>
            <a:ext cx="7810499" cy="29045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2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EC4E73-6A9F-2F46-89D1-559CE56C12BE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88BFD865-74BB-5B40-8DA8-7D7B921A7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71D589B3-67A1-4B39-9EEF-2FB7AB10EC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5D91E6B-55B5-4092-AD3B-F7E1FD00459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631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B35C0DBA-B958-984A-8540-551D3604D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48768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0C9ECF50-A899-D84A-8DA7-545D7B1945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8700" y="2286003"/>
            <a:ext cx="4876800" cy="356869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Click to edit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23E260-2F88-C54F-893E-80966D14934A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69925"/>
            <a:ext cx="4872347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41785DC-164D-344A-8D61-85C59CABEC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54824" y="990600"/>
            <a:ext cx="4837176" cy="483717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AE1D3B9-B2D1-4927-BE44-8408FBD84C0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September 3, 20XX 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447116-BCE7-456E-88B8-96ADC76E5FC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3B6347-A35F-4216-9988-7393E598E12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016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D808B2-C5CA-FE45-B556-461D856BF7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25CA9F-967F-1545-8E32-09F4DB0F04F6}"/>
              </a:ext>
            </a:extLst>
          </p:cNvPr>
          <p:cNvCxnSpPr>
            <a:cxnSpLocks/>
          </p:cNvCxnSpPr>
          <p:nvPr userDrawn="1"/>
        </p:nvCxnSpPr>
        <p:spPr>
          <a:xfrm flipV="1">
            <a:off x="1044475" y="1862667"/>
            <a:ext cx="10103049" cy="867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69DD4EBD-237B-7245-A9C2-A37674E23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681577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BA6D65B-10A2-D743-9FFA-D14B8696F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-6836"/>
            <a:ext cx="11158847" cy="58248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10" name="Chart Placeholder 3">
            <a:extLst>
              <a:ext uri="{FF2B5EF4-FFF2-40B4-BE49-F238E27FC236}">
                <a16:creationId xmlns:a16="http://schemas.microsoft.com/office/drawing/2014/main" id="{FCB9F5CF-0F1D-284B-B997-AC308FED47B9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951345" y="2286000"/>
            <a:ext cx="9145155" cy="31649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5652B48-7CDD-5645-B29B-54727CA5F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0F4C76-2690-7448-8D03-9692C2BB1016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1C09B5-CD25-4B65-9120-D8EBD79ABC8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September 3, 20XX 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281DE-BBF4-4AA1-B110-DC418232A01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9333A-6926-414D-9C9D-B62395A38A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965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  <p15:guide id="6" pos="63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855E5B9-5A63-2D46-8653-3FD1F538F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4453"/>
            <a:ext cx="11158847" cy="58248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03FB492B-801F-1741-BD1B-89F9C6BFF0E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028700" y="2423161"/>
            <a:ext cx="9067800" cy="222740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74545B3-0290-D848-BDB5-811BC52BD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10096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3709460-09E4-854A-889B-491A934DE40F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F749A19-BE29-4599-ABBE-E7C61FF9EE3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September 3, 20XX 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8F30C11-6611-47E2-9CF7-8EE77F4CD10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F710E8-4CE9-4D79-8121-DD559D321EC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03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  <p15:guide id="6" pos="63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6A99595-F780-594B-8C36-E4E5AF5E1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-6836"/>
            <a:ext cx="11158847" cy="58248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4AFB169-81B7-454B-BE19-407333C86F3B}"/>
              </a:ext>
            </a:extLst>
          </p:cNvPr>
          <p:cNvCxnSpPr>
            <a:cxnSpLocks/>
          </p:cNvCxnSpPr>
          <p:nvPr userDrawn="1"/>
        </p:nvCxnSpPr>
        <p:spPr>
          <a:xfrm>
            <a:off x="2184935" y="1874704"/>
            <a:ext cx="8973912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C26CF-26CC-354C-BB60-AD3E01D575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700" y="2304344"/>
            <a:ext cx="7810500" cy="29892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50000"/>
              </a:lnSpc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A06611-233D-45FA-A146-AB9D4F4A7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525" y="978781"/>
            <a:ext cx="1589372" cy="1325563"/>
          </a:xfrm>
          <a:prstGeom prst="rect">
            <a:avLst/>
          </a:prstGeom>
        </p:spPr>
        <p:txBody>
          <a:bodyPr/>
          <a:lstStyle>
            <a:lvl1pPr>
              <a:defRPr sz="20000"/>
            </a:lvl1pPr>
          </a:lstStyle>
          <a:p>
            <a:r>
              <a:rPr lang="en-US"/>
              <a:t>“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4887C6-2D97-4388-AA65-CEEA6591BFB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September 3, 20XX 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F84EFA-1D77-40D3-B5AC-6652DC26F0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13CA07C-1BC2-4B16-8557-27C373CFCE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144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FAD8BFA-14F6-F54A-AB64-29F9F7616A7D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4640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B9E731-6B9B-024E-9360-F9F34CC663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700" y="4313437"/>
            <a:ext cx="1828800" cy="4012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FD3D9C96-2F42-E545-BD97-AC8568E2F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8700" y="4752757"/>
            <a:ext cx="1828800" cy="5524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892AA37C-BA0F-9C4F-B098-EDFE391C47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84600" y="4332486"/>
            <a:ext cx="1828800" cy="4012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EAAAC92-F1DA-6847-8D56-1ACCD5E3B0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84600" y="4752757"/>
            <a:ext cx="1828800" cy="5524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F4E4153D-E2B3-7D4A-8D92-FF6597B2FB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31512" y="4313436"/>
            <a:ext cx="1828800" cy="4202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0D6B703A-5BF6-744F-A3D3-C65E3F8B3B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31512" y="4752757"/>
            <a:ext cx="1828800" cy="5524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982A9FE5-981A-B340-B8F8-D2DB83C196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96400" y="4332486"/>
            <a:ext cx="1828800" cy="4202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594B2391-B4C8-5542-8285-39BAD874EC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296400" y="4752757"/>
            <a:ext cx="1828800" cy="5524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7" name="Picture Placeholder 25">
            <a:extLst>
              <a:ext uri="{FF2B5EF4-FFF2-40B4-BE49-F238E27FC236}">
                <a16:creationId xmlns:a16="http://schemas.microsoft.com/office/drawing/2014/main" id="{A2D87BC1-884E-CD4E-BABF-B7AF4DF7869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28700" y="2308936"/>
            <a:ext cx="1828800" cy="183159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8" name="Picture Placeholder 25">
            <a:extLst>
              <a:ext uri="{FF2B5EF4-FFF2-40B4-BE49-F238E27FC236}">
                <a16:creationId xmlns:a16="http://schemas.microsoft.com/office/drawing/2014/main" id="{DB0763B3-E65F-8A47-AA7C-C9A56C50600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84600" y="2308936"/>
            <a:ext cx="1828800" cy="183159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9" name="Picture Placeholder 25">
            <a:extLst>
              <a:ext uri="{FF2B5EF4-FFF2-40B4-BE49-F238E27FC236}">
                <a16:creationId xmlns:a16="http://schemas.microsoft.com/office/drawing/2014/main" id="{1E0F47CF-6DE7-F745-B9D8-55421009AF4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40500" y="2308936"/>
            <a:ext cx="1828800" cy="183159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0" name="Picture Placeholder 25">
            <a:extLst>
              <a:ext uri="{FF2B5EF4-FFF2-40B4-BE49-F238E27FC236}">
                <a16:creationId xmlns:a16="http://schemas.microsoft.com/office/drawing/2014/main" id="{B4621956-6AB4-E346-8900-9AE2A51ADBC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296400" y="2314278"/>
            <a:ext cx="1828800" cy="183159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B64062A-6292-0441-95CB-9A91F49DB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83883EC-FACE-4093-9976-8B0D4C8BEBCC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US"/>
              <a:t>September 3, 20XX 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2611EE2-9C8D-405E-9ABF-8EFD1E1D6BB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FE126EB-13BB-4830-A999-3778C11747A6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963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 userDrawn="1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  <p15:guide id="8" orient="horz" pos="3072" userDrawn="1">
          <p15:clr>
            <a:srgbClr val="FBAE40"/>
          </p15:clr>
        </p15:guide>
        <p15:guide id="13" pos="6384" userDrawn="1">
          <p15:clr>
            <a:srgbClr val="FBAE40"/>
          </p15:clr>
        </p15:guide>
        <p15:guide id="14" orient="horz" pos="321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A116A2E3-682D-BD4F-9FC9-4546B0C9A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D64AC08-85A6-6F44-88B4-3FAE91B70C1B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1056DE-470B-C64D-99AE-5039A021EC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1616" y="2328553"/>
            <a:ext cx="2286000" cy="911029"/>
          </a:xfrm>
          <a:prstGeom prst="rect">
            <a:avLst/>
          </a:prstGeo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ADA9C53-0DC4-4D43-B80C-9B0A9E0EBD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6672" y="2328553"/>
            <a:ext cx="2286000" cy="911029"/>
          </a:xfrm>
          <a:prstGeom prst="rect">
            <a:avLst/>
          </a:prstGeo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F8E68047-DF25-AB45-A0F0-F4DFE23516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06672" y="3336211"/>
            <a:ext cx="2286000" cy="24909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61DB1B27-14E7-1549-BDAA-6DD31A1B1FC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839200" y="2328553"/>
            <a:ext cx="2286000" cy="911029"/>
          </a:xfrm>
          <a:prstGeom prst="rect">
            <a:avLst/>
          </a:prstGeo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69D66743-22F2-C84F-9FD2-F350766D6CD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39200" y="3331030"/>
            <a:ext cx="2286000" cy="24665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A38EF55-8739-4A40-A228-67296EA938B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74144" y="2328553"/>
            <a:ext cx="2286000" cy="911029"/>
          </a:xfrm>
          <a:prstGeom prst="rect">
            <a:avLst/>
          </a:prstGeo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268DC74C-B0F9-2649-BEC3-BBA0BD73765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57921" y="3331029"/>
            <a:ext cx="2286000" cy="24665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1422B-E6C5-43B2-9F2B-DECEB381214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68377" y="3331029"/>
            <a:ext cx="2286000" cy="2466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/>
            </a:lvl1pPr>
            <a:lvl2pPr>
              <a:buNone/>
              <a:defRPr sz="1400"/>
            </a:lvl2pPr>
            <a:lvl3pPr>
              <a:buNone/>
              <a:defRPr sz="14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C81DA9-1713-43A7-A2CF-A9525B11AF43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en-US"/>
              <a:t>September 3, 20XX 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6A8F0-5D79-4C8A-9966-308409EB26B0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85BAE5-43DA-49F0-89E6-66D549C52389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56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  <p15:guide id="14" pos="148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91C010F4-E1E5-354F-9B4A-6253D3DC2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6641" y="3044590"/>
            <a:ext cx="4868860" cy="1942138"/>
          </a:xfrm>
          <a:prstGeom prst="rect">
            <a:avLst/>
          </a:prstGeom>
        </p:spPr>
        <p:txBody>
          <a:bodyPr lIns="0" tIns="0" rIns="0" bIns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C2F7C8C0-EB32-3C44-930E-DE05403C543A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285649" y="3044590"/>
            <a:ext cx="4868860" cy="1942138"/>
          </a:xfrm>
          <a:prstGeom prst="rect">
            <a:avLst/>
          </a:prstGeom>
        </p:spPr>
        <p:txBody>
          <a:bodyPr lIns="0" tIns="0" rIns="0" bIns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06473F2-000A-7C44-9048-A0C0D4B65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A0597E-7AE3-F242-9DDF-F678A5E11458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EAB7162A-656B-3447-976F-951853C325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1616" y="2328554"/>
            <a:ext cx="4963884" cy="645284"/>
          </a:xfrm>
          <a:prstGeom prst="rect">
            <a:avLst/>
          </a:prstGeo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8B98E47-9A5A-E54C-A093-86D516AAD0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58199" y="2328554"/>
            <a:ext cx="4868860" cy="645284"/>
          </a:xfrm>
          <a:prstGeom prst="rect">
            <a:avLst/>
          </a:prstGeo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274C5-9C2D-4A46-AEAE-9DBE1C41747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September 3, 20XX 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419017-8DD9-4B28-B0F1-E82FFB8C1DF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0BFF08-A844-4449-9EC2-5B6B6C2D62A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75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2476683E-62F2-7746-A136-3A729C70D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6641" y="3052691"/>
            <a:ext cx="3078159" cy="1942138"/>
          </a:xfrm>
          <a:prstGeom prst="rect">
            <a:avLst/>
          </a:prstGeom>
        </p:spPr>
        <p:txBody>
          <a:bodyPr lIns="0" tIns="0" rIns="0" bIns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EF5BDE3-656A-414E-BE18-702CA738A9D2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8039099" y="3044590"/>
            <a:ext cx="3115409" cy="1942138"/>
          </a:xfrm>
          <a:prstGeom prst="rect">
            <a:avLst/>
          </a:prstGeom>
        </p:spPr>
        <p:txBody>
          <a:bodyPr lIns="0" tIns="0" rIns="0" bIns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EAADDF0-090D-2C4F-BE2D-160C2C55029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539760" y="3044590"/>
            <a:ext cx="3115409" cy="1942138"/>
          </a:xfrm>
          <a:prstGeom prst="rect">
            <a:avLst/>
          </a:prstGeom>
        </p:spPr>
        <p:txBody>
          <a:bodyPr lIns="0" tIns="0" rIns="0" bIns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E0EAFBC-DE77-7648-95EC-91DDA529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2A16A97-402E-8040-9B48-1B6ED23ABC4F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4BD319C-69C3-3D46-977C-F80FD35E3C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1616" y="2328554"/>
            <a:ext cx="3173184" cy="645284"/>
          </a:xfrm>
          <a:prstGeom prst="rect">
            <a:avLst/>
          </a:prstGeom>
        </p:spPr>
        <p:txBody>
          <a:bodyPr/>
          <a:lstStyle>
            <a:lvl1pPr>
              <a:buNone/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F6FB95E-AD0D-3843-8241-AB907F5915C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66252" y="2328554"/>
            <a:ext cx="3115409" cy="645284"/>
          </a:xfrm>
          <a:prstGeom prst="rect">
            <a:avLst/>
          </a:prstGeom>
        </p:spPr>
        <p:txBody>
          <a:bodyPr/>
          <a:lstStyle>
            <a:lvl1pPr>
              <a:buNone/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C85BB87-C622-304F-9F58-8716188AA54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33114" y="2328554"/>
            <a:ext cx="3115409" cy="645284"/>
          </a:xfrm>
          <a:prstGeom prst="rect">
            <a:avLst/>
          </a:prstGeom>
        </p:spPr>
        <p:txBody>
          <a:bodyPr/>
          <a:lstStyle>
            <a:lvl1pPr>
              <a:buNone/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6B0B5-56D6-429D-BC3A-5E501EDADA8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September 3, 20XX 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8DFE9-DB89-4EB9-9FB1-D484EC0C1B5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C09F4-4087-4A1E-B8B8-85A748DC901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80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80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5D6FA74B-53F8-584F-85D3-47FB14D40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152369-C198-1E48-8F65-F6AC0534DFF6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921E4-02B0-3748-9844-933F710058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700" y="2321923"/>
            <a:ext cx="4876800" cy="3825952"/>
          </a:xfrm>
          <a:prstGeom prst="rect">
            <a:avLst/>
          </a:prstGeom>
        </p:spPr>
        <p:txBody>
          <a:bodyPr/>
          <a:lstStyle>
            <a:lvl1pPr>
              <a:buNone/>
              <a:defRPr sz="1800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3048678-0BD6-C448-8690-BD61FC6095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48400" y="2286000"/>
            <a:ext cx="4876800" cy="2746375"/>
          </a:xfrm>
          <a:prstGeom prst="rect">
            <a:avLst/>
          </a:prstGeom>
        </p:spPr>
        <p:txBody>
          <a:bodyPr/>
          <a:lstStyle>
            <a:lvl1pPr>
              <a:buNone/>
              <a:defRPr sz="1800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C8134C-ADB9-4E1C-97DD-12E5DE2C775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September 3, 20XX 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A0C24D-14BB-46C9-A4C2-DB15E4FB9B2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33D085-5F13-41E2-9C46-08E3E2846CC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889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B35C0DBA-B958-984A-8540-551D3604D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7107" y="999068"/>
            <a:ext cx="48768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0C9ECF50-A899-D84A-8DA7-545D7B1945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57107" y="2286003"/>
            <a:ext cx="4876800" cy="23327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Click to edit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23E260-2F88-C54F-893E-80966D14934A}"/>
              </a:ext>
            </a:extLst>
          </p:cNvPr>
          <p:cNvCxnSpPr>
            <a:cxnSpLocks/>
          </p:cNvCxnSpPr>
          <p:nvPr userDrawn="1"/>
        </p:nvCxnSpPr>
        <p:spPr>
          <a:xfrm>
            <a:off x="6261560" y="1869925"/>
            <a:ext cx="4872347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41785DC-164D-344A-8D61-85C59CABEC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90600"/>
            <a:ext cx="4837176" cy="483717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8B57D363-927D-CE43-AD8A-2F5E6CC59E9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57107" y="4659581"/>
            <a:ext cx="4876800" cy="543031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200"/>
            </a:lvl2pPr>
            <a:lvl3pPr marL="914400" indent="0">
              <a:buFontTx/>
              <a:buNone/>
              <a:defRPr sz="1200"/>
            </a:lvl3pPr>
            <a:lvl4pPr marL="1371600" indent="0">
              <a:buFontTx/>
              <a:buNone/>
              <a:defRPr sz="1200"/>
            </a:lvl4pPr>
            <a:lvl5pPr marL="1828800" indent="0">
              <a:buFontTx/>
              <a:buNone/>
              <a:defRPr sz="12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B2FDBC3-20E9-45B6-850D-2F34EA22D1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r>
              <a:rPr lang="en-US"/>
              <a:t>September 3, 20XX 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C17A152-7FD0-42FA-9937-8667D4B7515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687AABD-BCAB-4325-8510-954CAAD92A9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541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79F22C8-3EAB-425F-ADBA-3A162D8202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830818" y="6292334"/>
            <a:ext cx="1522982" cy="18288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September 3, 20XX 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C4B4F87-0B31-4EDA-8270-4233B0D8FF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98180" y="6294120"/>
            <a:ext cx="1462788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Annual Review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05EC255-976A-48BF-A8A0-1ECEBDFBB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3500" y="6292334"/>
            <a:ext cx="41275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74" r:id="rId2"/>
    <p:sldLayoutId id="2147483673" r:id="rId3"/>
    <p:sldLayoutId id="2147483671" r:id="rId4"/>
    <p:sldLayoutId id="2147483678" r:id="rId5"/>
    <p:sldLayoutId id="2147483676" r:id="rId6"/>
    <p:sldLayoutId id="2147483677" r:id="rId7"/>
    <p:sldLayoutId id="2147483660" r:id="rId8"/>
    <p:sldLayoutId id="2147483675" r:id="rId9"/>
    <p:sldLayoutId id="2147483679" r:id="rId10"/>
    <p:sldLayoutId id="2147483680" r:id="rId11"/>
    <p:sldLayoutId id="2147483681" r:id="rId12"/>
    <p:sldLayoutId id="2147483684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7008" userDrawn="1">
          <p15:clr>
            <a:srgbClr val="F26B43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24" userDrawn="1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orient="horz" pos="624" userDrawn="1">
          <p15:clr>
            <a:srgbClr val="F26B43"/>
          </p15:clr>
        </p15:guide>
        <p15:guide id="18" orient="horz" pos="3672" userDrawn="1">
          <p15:clr>
            <a:srgbClr val="F26B43"/>
          </p15:clr>
        </p15:guide>
        <p15:guide id="19" pos="3984" userDrawn="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C99CF7C-AFAB-48F1-8FC3-CCCE98982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en-US"/>
              <a:t>Closest Pair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ECC17-4660-124A-8996-54F15FD169C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 lIns="0" tIns="0" rIns="0" bIns="0" anchor="t"/>
          <a:lstStyle/>
          <a:p>
            <a:r>
              <a:rPr lang="en-US" b="1"/>
              <a:t>Lydia Ballard, Sydney Frisbee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473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324FA0-0DB4-3942-B6B8-27D09C4FF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9021096" cy="706734"/>
          </a:xfrm>
        </p:spPr>
        <p:txBody>
          <a:bodyPr/>
          <a:lstStyle/>
          <a:p>
            <a:r>
              <a:rPr lang="en-US" dirty="0"/>
              <a:t>What is the Closest Pair Problem?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09607A-1079-0440-B136-F827E83999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0" tIns="0" rIns="0" bIns="0" anchor="t"/>
          <a:lstStyle/>
          <a:p>
            <a:pPr>
              <a:lnSpc>
                <a:spcPct val="110000"/>
              </a:lnSpc>
            </a:pPr>
            <a:endParaRPr lang="en-US">
              <a:cs typeface="Calibri"/>
            </a:endParaRPr>
          </a:p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1C65C-0714-4BCD-8550-1DD2C44FAD8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93500" y="6292334"/>
            <a:ext cx="412750" cy="182880"/>
          </a:xfrm>
        </p:spPr>
        <p:txBody>
          <a:bodyPr/>
          <a:lstStyle/>
          <a:p>
            <a:fld id="{7782931A-7D25-4B4B-9464-57AE418934A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37015B-B8D1-1BDE-002F-7D80524B0CF5}"/>
              </a:ext>
            </a:extLst>
          </p:cNvPr>
          <p:cNvSpPr txBox="1"/>
          <p:nvPr/>
        </p:nvSpPr>
        <p:spPr>
          <a:xfrm>
            <a:off x="1030111" y="2129639"/>
            <a:ext cx="9031794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Closest Pair Problem – a problem that finds the two closest points in a metric space, typically using Euclidean distance, for a set of n points. </a:t>
            </a:r>
          </a:p>
          <a:p>
            <a:endParaRPr lang="en-US" sz="2400" dirty="0">
              <a:solidFill>
                <a:srgbClr val="000000"/>
              </a:solidFill>
            </a:endParaRPr>
          </a:p>
          <a:p>
            <a:r>
              <a:rPr lang="en-US" sz="2400" dirty="0">
                <a:solidFill>
                  <a:srgbClr val="000000"/>
                </a:solidFill>
              </a:rPr>
              <a:t>We plan to solve this problem with the following algorithms: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Brute Force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Divide and Conquer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Line Sweep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Bee Colony Optimization (BCO)</a:t>
            </a:r>
          </a:p>
          <a:p>
            <a:endParaRPr lang="en-U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577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966EE-4FBD-534E-AAED-6C54465EF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737E2-1EBF-6244-8E0A-274D170CCC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lIns="0" tIns="0" rIns="0" bIns="0" anchor="t"/>
          <a:lstStyle/>
          <a:p>
            <a:endParaRPr lang="en-US"/>
          </a:p>
          <a:p>
            <a:endParaRPr lang="en-US"/>
          </a:p>
        </p:txBody>
      </p:sp>
      <p:pic>
        <p:nvPicPr>
          <p:cNvPr id="11" name="Picture Placeholder 10" descr="A diagram of a graph&#10;&#10;AI-generated content may be incorrect.">
            <a:extLst>
              <a:ext uri="{FF2B5EF4-FFF2-40B4-BE49-F238E27FC236}">
                <a16:creationId xmlns:a16="http://schemas.microsoft.com/office/drawing/2014/main" id="{30FDF0A1-337F-4901-B663-86681B2274C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>
            <a:fillRect/>
          </a:stretch>
        </p:blipFill>
        <p:spPr>
          <a:xfrm>
            <a:off x="6093583" y="1151319"/>
            <a:ext cx="6089658" cy="4559531"/>
          </a:xfrm>
          <a:ln w="28575"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E5F9E-39DA-49B7-8AA0-FF8E2B15DEE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93500" y="6292334"/>
            <a:ext cx="412750" cy="182880"/>
          </a:xfrm>
        </p:spPr>
        <p:txBody>
          <a:bodyPr/>
          <a:lstStyle/>
          <a:p>
            <a:fld id="{7782931A-7D25-4B4B-9464-57AE418934A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FDD2928-FE65-AC7E-38FC-6F7DF3687D05}"/>
              </a:ext>
            </a:extLst>
          </p:cNvPr>
          <p:cNvSpPr txBox="1">
            <a:spLocks/>
          </p:cNvSpPr>
          <p:nvPr/>
        </p:nvSpPr>
        <p:spPr>
          <a:xfrm>
            <a:off x="1028700" y="2448862"/>
            <a:ext cx="5603328" cy="3002400"/>
          </a:xfrm>
          <a:prstGeom prst="rect">
            <a:avLst/>
          </a:prstGeom>
        </p:spPr>
        <p:txBody>
          <a:bodyPr lIns="0" tIns="0" rIns="0" bIns="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/>
              <a:buChar char="•"/>
            </a:pPr>
            <a:r>
              <a:rPr lang="en-US" dirty="0">
                <a:highlight>
                  <a:srgbClr val="FFFFFF"/>
                </a:highlight>
                <a:latin typeface="Arial Nova"/>
                <a:ea typeface="Cambria"/>
              </a:rPr>
              <a:t>How does runtime grow for each algorithm as input size 𝑛 increases</a:t>
            </a:r>
            <a:endParaRPr lang="en-US" dirty="0">
              <a:highlight>
                <a:srgbClr val="606060"/>
              </a:highlight>
              <a:latin typeface="Arial Nova"/>
              <a:ea typeface="Cambria"/>
            </a:endParaRPr>
          </a:p>
          <a:p>
            <a:pPr>
              <a:buFont typeface="Arial"/>
              <a:buChar char="•"/>
            </a:pPr>
            <a:r>
              <a:rPr lang="en-US" dirty="0">
                <a:highlight>
                  <a:srgbClr val="FFFFFF"/>
                </a:highlight>
                <a:latin typeface="Arial Nova"/>
                <a:ea typeface="Cambria"/>
              </a:rPr>
              <a:t>At what input size does Divide &amp; Conquer outperform Brute Force</a:t>
            </a:r>
            <a:endParaRPr lang="en-US" dirty="0">
              <a:highlight>
                <a:srgbClr val="606060"/>
              </a:highlight>
              <a:latin typeface="Arial Nova"/>
              <a:ea typeface="Cambria"/>
            </a:endParaRPr>
          </a:p>
          <a:p>
            <a:pPr>
              <a:buFont typeface="Arial"/>
              <a:buChar char="•"/>
            </a:pPr>
            <a:r>
              <a:rPr lang="en-US" dirty="0">
                <a:highlight>
                  <a:srgbClr val="FFFFFF"/>
                </a:highlight>
                <a:latin typeface="Arial Nova"/>
                <a:ea typeface="Cambria"/>
              </a:rPr>
              <a:t>Which algorithm is best for solving the closest pair problem</a:t>
            </a:r>
            <a:endParaRPr lang="en-US" sz="2600" dirty="0">
              <a:highlight>
                <a:srgbClr val="FFFFFF"/>
              </a:highlight>
              <a:latin typeface="Arial Nova"/>
              <a:ea typeface="Cambria"/>
            </a:endParaRPr>
          </a:p>
          <a:p>
            <a:pPr marL="0" indent="0">
              <a:buNone/>
            </a:pPr>
            <a:endParaRPr lang="en-US" sz="2400" dirty="0">
              <a:latin typeface="Arial Nova"/>
            </a:endParaRPr>
          </a:p>
        </p:txBody>
      </p:sp>
    </p:spTree>
    <p:extLst>
      <p:ext uri="{BB962C8B-B14F-4D97-AF65-F5344CB8AC3E}">
        <p14:creationId xmlns:p14="http://schemas.microsoft.com/office/powerpoint/2010/main" val="4017832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4391A8-86CF-7246-9C31-CC6670044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Brute Force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2835A-A332-4647-B267-D78B14BFA4A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493500" y="6292334"/>
            <a:ext cx="412750" cy="182880"/>
          </a:xfrm>
        </p:spPr>
        <p:txBody>
          <a:bodyPr/>
          <a:lstStyle/>
          <a:p>
            <a:fld id="{7782931A-7D25-4B4B-9464-57AE418934A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2606797-2379-200C-3F68-F63C16D49028}"/>
              </a:ext>
            </a:extLst>
          </p:cNvPr>
          <p:cNvSpPr txBox="1">
            <a:spLocks/>
          </p:cNvSpPr>
          <p:nvPr/>
        </p:nvSpPr>
        <p:spPr>
          <a:xfrm>
            <a:off x="1028700" y="2304344"/>
            <a:ext cx="7810500" cy="2989263"/>
          </a:xfrm>
          <a:prstGeom prst="rect">
            <a:avLst/>
          </a:prstGeom>
        </p:spPr>
        <p:txBody>
          <a:bodyPr lIns="0" tIns="0" rIns="0" bIns="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Brute force figures out the distance between every pair and stores the minimum distance found.</a:t>
            </a:r>
          </a:p>
          <a:p>
            <a:pPr marL="0" indent="0">
              <a:buNone/>
            </a:pPr>
            <a:r>
              <a:rPr lang="en-US" dirty="0"/>
              <a:t>Time Complexity: </a:t>
            </a:r>
            <a:r>
              <a:rPr lang="en-US" dirty="0">
                <a:ea typeface="+mn-lt"/>
                <a:cs typeface="+mn-lt"/>
              </a:rPr>
              <a:t>Θ(n^2)</a:t>
            </a:r>
          </a:p>
          <a:p>
            <a:pPr marL="0" indent="0">
              <a:buNone/>
            </a:pPr>
            <a:r>
              <a:rPr lang="en-US" dirty="0"/>
              <a:t>We have this algorithm as a baseline due to it being very straightforward</a:t>
            </a:r>
          </a:p>
        </p:txBody>
      </p:sp>
    </p:spTree>
    <p:extLst>
      <p:ext uri="{BB962C8B-B14F-4D97-AF65-F5344CB8AC3E}">
        <p14:creationId xmlns:p14="http://schemas.microsoft.com/office/powerpoint/2010/main" val="2351439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9BB335-2462-3D47-A2A8-85BA2D85C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Divide and Conquer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1A4ADA-7998-4A9D-939E-3A1B16A0F2F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93500" y="6292334"/>
            <a:ext cx="412750" cy="182880"/>
          </a:xfrm>
        </p:spPr>
        <p:txBody>
          <a:bodyPr/>
          <a:lstStyle/>
          <a:p>
            <a:fld id="{7782931A-7D25-4B4B-9464-57AE418934A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49485B-19F5-C1B8-1702-91A3528C7813}"/>
              </a:ext>
            </a:extLst>
          </p:cNvPr>
          <p:cNvSpPr txBox="1"/>
          <p:nvPr/>
        </p:nvSpPr>
        <p:spPr>
          <a:xfrm>
            <a:off x="1030692" y="2141272"/>
            <a:ext cx="9444476" cy="33624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500"/>
              </a:spcBef>
            </a:pPr>
            <a:r>
              <a:rPr lang="en-US" sz="2600" dirty="0">
                <a:solidFill>
                  <a:schemeClr val="bg1"/>
                </a:solidFill>
                <a:ea typeface="+mn-lt"/>
                <a:cs typeface="+mn-lt"/>
              </a:rPr>
              <a:t>Points are recursively divided into smaller groups. Minimum distance is calculated within each group. During the merging step, check for possible closer pairs across the dividing point.</a:t>
            </a:r>
            <a:endParaRPr lang="en-US" sz="2600" dirty="0">
              <a:solidFill>
                <a:schemeClr val="bg1"/>
              </a:solidFill>
            </a:endParaRPr>
          </a:p>
          <a:p>
            <a:pPr marL="457200" indent="-457200">
              <a:spcBef>
                <a:spcPts val="5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ea typeface="+mn-lt"/>
                <a:cs typeface="+mn-lt"/>
              </a:rPr>
              <a:t>Time complexity: Θ (n log n)</a:t>
            </a:r>
            <a:endParaRPr lang="en-US" sz="2600" dirty="0">
              <a:solidFill>
                <a:schemeClr val="bg1"/>
              </a:solidFill>
            </a:endParaRPr>
          </a:p>
          <a:p>
            <a:pPr marL="457200" indent="-457200">
              <a:spcBef>
                <a:spcPts val="5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ea typeface="+mn-lt"/>
                <a:cs typeface="+mn-lt"/>
              </a:rPr>
              <a:t>Reduces the time complexity compared to just brute force, so it is better for more data</a:t>
            </a:r>
          </a:p>
          <a:p>
            <a:pPr marL="457200" indent="-457200">
              <a:spcBef>
                <a:spcPts val="5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ea typeface="+mn-lt"/>
                <a:cs typeface="+mn-lt"/>
              </a:rPr>
              <a:t>More complex to understand and implement</a:t>
            </a:r>
            <a:endParaRPr lang="en-US" sz="2600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761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3E1FE-6784-7706-8A29-FBC560A0B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D9A096-84A1-76EF-C8A8-F302CF524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 Sweep</a:t>
            </a:r>
            <a:endParaRPr lang="en-US" b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B3507-A6B8-CE4E-2362-4052187C39B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493500" y="6292334"/>
            <a:ext cx="412750" cy="182880"/>
          </a:xfrm>
        </p:spPr>
        <p:txBody>
          <a:bodyPr/>
          <a:lstStyle/>
          <a:p>
            <a:fld id="{7782931A-7D25-4B4B-9464-57AE418934A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BDEEFD2D-8984-B380-882A-8D28C4953E62}"/>
              </a:ext>
            </a:extLst>
          </p:cNvPr>
          <p:cNvSpPr txBox="1">
            <a:spLocks/>
          </p:cNvSpPr>
          <p:nvPr/>
        </p:nvSpPr>
        <p:spPr>
          <a:xfrm>
            <a:off x="1025878" y="2301522"/>
            <a:ext cx="7810500" cy="2989263"/>
          </a:xfrm>
          <a:prstGeom prst="rect">
            <a:avLst/>
          </a:prstGeom>
        </p:spPr>
        <p:txBody>
          <a:bodyPr lIns="0" tIns="0" rIns="0" bIns="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Line Sweep </a:t>
            </a:r>
            <a:r>
              <a:rPr lang="en-US" dirty="0">
                <a:ea typeface="+mn-lt"/>
                <a:cs typeface="+mn-lt"/>
              </a:rPr>
              <a:t>algorithm first sorts all points by x-coordinate and then processes them from left to right using a sweep line.</a:t>
            </a: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Time Complexity: Θ(n log n)</a:t>
            </a:r>
          </a:p>
          <a:p>
            <a:pPr marL="0" indent="0">
              <a:buNone/>
            </a:pPr>
            <a:r>
              <a:rPr lang="en-US" dirty="0"/>
              <a:t>We have this algorithm because it is a specialized algorithm and is useful for comparisons with general algorithms</a:t>
            </a:r>
          </a:p>
        </p:txBody>
      </p:sp>
    </p:spTree>
    <p:extLst>
      <p:ext uri="{BB962C8B-B14F-4D97-AF65-F5344CB8AC3E}">
        <p14:creationId xmlns:p14="http://schemas.microsoft.com/office/powerpoint/2010/main" val="1862448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360B9-EDE8-D58C-D16A-352C7497A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C8BDE0-08B2-EF1D-1F8C-AE98157C0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Bee Colony Optimization</a:t>
            </a:r>
            <a:endParaRPr lang="en-US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5EE862-0882-61CB-867B-FE3FE30FF07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93500" y="6292334"/>
            <a:ext cx="412750" cy="182880"/>
          </a:xfrm>
        </p:spPr>
        <p:txBody>
          <a:bodyPr/>
          <a:lstStyle/>
          <a:p>
            <a:fld id="{7782931A-7D25-4B4B-9464-57AE418934A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B70D2E-1DE3-E6C2-9ED4-131475FD4B1D}"/>
              </a:ext>
            </a:extLst>
          </p:cNvPr>
          <p:cNvSpPr txBox="1"/>
          <p:nvPr/>
        </p:nvSpPr>
        <p:spPr>
          <a:xfrm>
            <a:off x="1026243" y="2027903"/>
            <a:ext cx="8711591" cy="3672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lvl="1">
              <a:spcBef>
                <a:spcPts val="500"/>
              </a:spcBef>
            </a:pPr>
            <a:r>
              <a:rPr lang="en-US" sz="2400" b="0" i="0" dirty="0">
                <a:solidFill>
                  <a:schemeClr val="bg1"/>
                </a:solidFill>
                <a:ea typeface="Aptos"/>
                <a:cs typeface="Aptos"/>
              </a:rPr>
              <a:t>Employed Bees: </a:t>
            </a:r>
            <a:r>
              <a:rPr lang="en-US" sz="2400" dirty="0">
                <a:solidFill>
                  <a:schemeClr val="bg1"/>
                </a:solidFill>
              </a:rPr>
              <a:t>takes the current pair and compares it to a neighboring pair, keeping the closer one</a:t>
            </a:r>
          </a:p>
          <a:p>
            <a:pPr marL="0" lvl="1">
              <a:spcBef>
                <a:spcPts val="500"/>
              </a:spcBef>
            </a:pPr>
            <a:r>
              <a:rPr lang="en-US" sz="2400" b="0" i="0" dirty="0">
                <a:solidFill>
                  <a:schemeClr val="bg1"/>
                </a:solidFill>
                <a:ea typeface="Aptos"/>
                <a:cs typeface="Aptos"/>
              </a:rPr>
              <a:t>Onlooker Bees: </a:t>
            </a:r>
            <a:r>
              <a:rPr lang="en-US" sz="2400" dirty="0">
                <a:solidFill>
                  <a:schemeClr val="bg1"/>
                </a:solidFill>
              </a:rPr>
              <a:t>computes fitness for pairs and randomly picks a promising pair to attempt to find a closer distance</a:t>
            </a:r>
          </a:p>
          <a:p>
            <a:pPr marL="0" lvl="1">
              <a:spcBef>
                <a:spcPts val="500"/>
              </a:spcBef>
            </a:pPr>
            <a:r>
              <a:rPr lang="en-US" sz="2400" b="0" i="0" dirty="0">
                <a:solidFill>
                  <a:schemeClr val="bg1"/>
                </a:solidFill>
                <a:ea typeface="Aptos"/>
                <a:cs typeface="Aptos"/>
              </a:rPr>
              <a:t>Scout Bees: </a:t>
            </a:r>
            <a:r>
              <a:rPr lang="en-US" sz="2400" dirty="0">
                <a:solidFill>
                  <a:schemeClr val="bg1"/>
                </a:solidFill>
              </a:rPr>
              <a:t>determines that if the pair hasn’t improved after a specific number of iterations, then it may be a bad candidate and replaces the pair with a random pair</a:t>
            </a:r>
          </a:p>
          <a:p>
            <a:pPr marL="3429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a typeface="Aptos"/>
                <a:cs typeface="Aptos"/>
              </a:rPr>
              <a:t>Time Complexity: 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Θ (N⋅I) </a:t>
            </a:r>
          </a:p>
          <a:p>
            <a:pPr marL="3429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a typeface="Aptos"/>
                <a:cs typeface="Aptos"/>
              </a:rPr>
              <a:t>Heuristic</a:t>
            </a:r>
          </a:p>
        </p:txBody>
      </p:sp>
      <p:pic>
        <p:nvPicPr>
          <p:cNvPr id="3" name="Graphic 2" descr="Bee with solid fill">
            <a:extLst>
              <a:ext uri="{FF2B5EF4-FFF2-40B4-BE49-F238E27FC236}">
                <a16:creationId xmlns:a16="http://schemas.microsoft.com/office/drawing/2014/main" id="{F86B3D8F-D801-537C-C5DA-BDD616F4A4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243993">
            <a:off x="7822728" y="81295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257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B054C5-D38D-4250-8FB9-1381546143D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BA779F1-E144-3D1C-9EC8-B44784725786}"/>
              </a:ext>
            </a:extLst>
          </p:cNvPr>
          <p:cNvSpPr>
            <a:spLocks noGrp="1"/>
          </p:cNvSpPr>
          <p:nvPr/>
        </p:nvSpPr>
        <p:spPr>
          <a:xfrm>
            <a:off x="1028700" y="2304344"/>
            <a:ext cx="10280854" cy="4341198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500"/>
              </a:spcBef>
              <a:buFont typeface="Arial,Sans-Serif" panose="020B0604020202020204" pitchFamily="34" charset="0"/>
              <a:buChar char="•"/>
            </a:pPr>
            <a:r>
              <a:rPr lang="en-US" sz="2600">
                <a:ea typeface="+mn-lt"/>
                <a:cs typeface="+mn-lt"/>
              </a:rPr>
              <a:t>Coded in Python</a:t>
            </a:r>
            <a:endParaRPr lang="en-US" sz="2600">
              <a:solidFill>
                <a:srgbClr val="FFFFFF"/>
              </a:solidFill>
              <a:ea typeface="+mn-lt"/>
              <a:cs typeface="+mn-lt"/>
            </a:endParaRPr>
          </a:p>
          <a:p>
            <a:pPr marL="285750" indent="-285750">
              <a:lnSpc>
                <a:spcPct val="100000"/>
              </a:lnSpc>
              <a:spcBef>
                <a:spcPts val="500"/>
              </a:spcBef>
              <a:buFont typeface="Arial,Sans-Serif" panose="020B0604020202020204" pitchFamily="34" charset="0"/>
              <a:buChar char="•"/>
            </a:pPr>
            <a:r>
              <a:rPr lang="en-US" sz="2600">
                <a:ea typeface="+mn-lt"/>
                <a:cs typeface="+mn-lt"/>
              </a:rPr>
              <a:t>Artificially generated datasets of XY pairs with a size n</a:t>
            </a:r>
            <a:endParaRPr lang="en-US" sz="2600">
              <a:solidFill>
                <a:srgbClr val="FFFFFF"/>
              </a:solidFill>
              <a:ea typeface="+mn-lt"/>
              <a:cs typeface="+mn-lt"/>
            </a:endParaRPr>
          </a:p>
          <a:p>
            <a:pPr marL="285750" indent="-285750">
              <a:lnSpc>
                <a:spcPct val="100000"/>
              </a:lnSpc>
              <a:spcBef>
                <a:spcPts val="500"/>
              </a:spcBef>
              <a:buFont typeface="Arial,Sans-Serif" panose="020B0604020202020204" pitchFamily="34" charset="0"/>
              <a:buChar char="•"/>
            </a:pPr>
            <a:r>
              <a:rPr lang="en-US" sz="2600">
                <a:ea typeface="+mn-lt"/>
                <a:cs typeface="+mn-lt"/>
              </a:rPr>
              <a:t>n starts at 2 and increases exponentially up to 8192</a:t>
            </a:r>
            <a:endParaRPr lang="en-US" sz="2600">
              <a:solidFill>
                <a:srgbClr val="FFFFFF"/>
              </a:solidFill>
              <a:ea typeface="+mn-lt"/>
              <a:cs typeface="+mn-lt"/>
            </a:endParaRPr>
          </a:p>
          <a:p>
            <a:pPr marL="285750" indent="-285750">
              <a:lnSpc>
                <a:spcPct val="100000"/>
              </a:lnSpc>
              <a:spcBef>
                <a:spcPts val="500"/>
              </a:spcBef>
              <a:buFont typeface="Arial,Sans-Serif" panose="020B0604020202020204" pitchFamily="34" charset="0"/>
              <a:buChar char="•"/>
            </a:pPr>
            <a:r>
              <a:rPr lang="en-US" sz="2600">
                <a:ea typeface="+mn-lt"/>
                <a:cs typeface="+mn-lt"/>
              </a:rPr>
              <a:t>Runs each algorithm 5 times for each size n</a:t>
            </a:r>
            <a:endParaRPr lang="en-US" sz="2600"/>
          </a:p>
          <a:p>
            <a:pPr marL="285750" indent="-285750">
              <a:lnSpc>
                <a:spcPct val="100000"/>
              </a:lnSpc>
              <a:spcBef>
                <a:spcPts val="500"/>
              </a:spcBef>
              <a:buChar char="•"/>
            </a:pPr>
            <a:r>
              <a:rPr lang="en-US" sz="2600">
                <a:ea typeface="+mn-lt"/>
                <a:cs typeface="+mn-lt"/>
              </a:rPr>
              <a:t>Specifications of Test Computer: </a:t>
            </a:r>
            <a:endParaRPr lang="en-US" sz="2600"/>
          </a:p>
          <a:p>
            <a:pPr marL="742950" lvl="1" indent="-285750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2600">
                <a:ea typeface="+mn-lt"/>
                <a:cs typeface="+mn-lt"/>
              </a:rPr>
              <a:t>OS: Windows 11</a:t>
            </a:r>
          </a:p>
          <a:p>
            <a:pPr marL="742950" lvl="1" indent="-285750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2600">
                <a:ea typeface="+mn-lt"/>
                <a:cs typeface="+mn-lt"/>
              </a:rPr>
              <a:t>CPU: AMD Ryzen 9 6900HS Creator Edition</a:t>
            </a:r>
          </a:p>
          <a:p>
            <a:pPr marL="742950" lvl="1" indent="-285750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2600">
                <a:ea typeface="+mn-lt"/>
                <a:cs typeface="+mn-lt"/>
              </a:rPr>
              <a:t>GPU: Nvidia GeForce 3050 Laptop</a:t>
            </a:r>
          </a:p>
          <a:p>
            <a:pPr marL="742950" lvl="1" indent="-285750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2600">
                <a:ea typeface="+mn-lt"/>
                <a:cs typeface="+mn-lt"/>
              </a:rPr>
              <a:t>RAM: 32 GB</a:t>
            </a:r>
          </a:p>
          <a:p>
            <a:pPr marL="285750" indent="-285750">
              <a:lnSpc>
                <a:spcPct val="100000"/>
              </a:lnSpc>
              <a:spcBef>
                <a:spcPts val="500"/>
              </a:spcBef>
              <a:buChar char="•"/>
            </a:pPr>
            <a:endParaRPr lang="en-US" sz="2000"/>
          </a:p>
        </p:txBody>
      </p:sp>
      <p:sp>
        <p:nvSpPr>
          <p:cNvPr id="13" name="Title 41">
            <a:extLst>
              <a:ext uri="{FF2B5EF4-FFF2-40B4-BE49-F238E27FC236}">
                <a16:creationId xmlns:a16="http://schemas.microsoft.com/office/drawing/2014/main" id="{1D24CED6-838E-CE67-D2E0-A3FD4E6D27DB}"/>
              </a:ext>
            </a:extLst>
          </p:cNvPr>
          <p:cNvSpPr>
            <a:spLocks noGrp="1"/>
          </p:cNvSpPr>
          <p:nvPr/>
        </p:nvSpPr>
        <p:spPr>
          <a:xfrm>
            <a:off x="1028699" y="943760"/>
            <a:ext cx="7810500" cy="64528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/>
              <a:t>Experiment Description</a:t>
            </a:r>
          </a:p>
        </p:txBody>
      </p:sp>
    </p:spTree>
    <p:extLst>
      <p:ext uri="{BB962C8B-B14F-4D97-AF65-F5344CB8AC3E}">
        <p14:creationId xmlns:p14="http://schemas.microsoft.com/office/powerpoint/2010/main" val="1696792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91B00-2D81-3048-8AFF-1F5A3E8AA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</p:spPr>
        <p:txBody>
          <a:bodyPr/>
          <a:lstStyle/>
          <a:p>
            <a:r>
              <a:rPr lang="en-US"/>
              <a:t>Results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49A274E-39AC-4802-84BB-E5ABF0747E74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493500" y="6292334"/>
            <a:ext cx="412750" cy="182880"/>
          </a:xfrm>
        </p:spPr>
        <p:txBody>
          <a:bodyPr/>
          <a:lstStyle/>
          <a:p>
            <a:fld id="{7782931A-7D25-4B4B-9464-57AE418934A3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510533AE-7000-A174-7FC3-EBCE78BAF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92" y="2459180"/>
            <a:ext cx="5512778" cy="3636819"/>
          </a:xfrm>
          <a:prstGeom prst="rect">
            <a:avLst/>
          </a:prstGeom>
        </p:spPr>
      </p:pic>
      <p:pic>
        <p:nvPicPr>
          <p:cNvPr id="7" name="Picture 6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63915E70-1D3E-5138-AF9F-7EC8B1001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049" y="2446572"/>
            <a:ext cx="5602848" cy="364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825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44C89-9C54-6F8F-684A-67CC07E76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229AEC-006E-0555-35E9-B0AF0C81C8CC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548806" y="6323059"/>
            <a:ext cx="357444" cy="152155"/>
          </a:xfrm>
        </p:spPr>
        <p:txBody>
          <a:bodyPr/>
          <a:lstStyle/>
          <a:p>
            <a:fld id="{7782931A-7D25-4B4B-9464-57AE418934A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90DAEE-9DFC-2E94-D342-12DA17AEF614}"/>
              </a:ext>
            </a:extLst>
          </p:cNvPr>
          <p:cNvSpPr/>
          <p:nvPr/>
        </p:nvSpPr>
        <p:spPr>
          <a:xfrm>
            <a:off x="754442" y="739114"/>
            <a:ext cx="10685517" cy="55529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graph with a line and a purple line&#10;&#10;AI-generated content may be incorrect.">
            <a:extLst>
              <a:ext uri="{FF2B5EF4-FFF2-40B4-BE49-F238E27FC236}">
                <a16:creationId xmlns:a16="http://schemas.microsoft.com/office/drawing/2014/main" id="{678130E9-71F0-78CF-BC16-E5BB82F57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15" y="3545757"/>
            <a:ext cx="4457670" cy="2955823"/>
          </a:xfrm>
          <a:prstGeom prst="rect">
            <a:avLst/>
          </a:prstGeom>
        </p:spPr>
      </p:pic>
      <p:pic>
        <p:nvPicPr>
          <p:cNvPr id="11" name="Picture 10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EF6F1D0A-9FEF-D62C-0A16-A1AE04868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705" y="313402"/>
            <a:ext cx="4442603" cy="2961969"/>
          </a:xfrm>
          <a:prstGeom prst="rect">
            <a:avLst/>
          </a:prstGeom>
        </p:spPr>
      </p:pic>
      <p:pic>
        <p:nvPicPr>
          <p:cNvPr id="12" name="Picture 11" descr="A graph with a red line&#10;&#10;AI-generated content may be incorrect.">
            <a:extLst>
              <a:ext uri="{FF2B5EF4-FFF2-40B4-BE49-F238E27FC236}">
                <a16:creationId xmlns:a16="http://schemas.microsoft.com/office/drawing/2014/main" id="{B9EB150E-731A-E5DC-F20E-C209849B5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9366" y="313402"/>
            <a:ext cx="4441290" cy="2974259"/>
          </a:xfrm>
          <a:prstGeom prst="rect">
            <a:avLst/>
          </a:prstGeom>
        </p:spPr>
      </p:pic>
      <p:pic>
        <p:nvPicPr>
          <p:cNvPr id="13" name="Picture 12" descr="A line graph with a green line&#10;&#10;AI-generated content may be incorrect.">
            <a:extLst>
              <a:ext uri="{FF2B5EF4-FFF2-40B4-BE49-F238E27FC236}">
                <a16:creationId xmlns:a16="http://schemas.microsoft.com/office/drawing/2014/main" id="{B553FBBA-DF47-EF1B-6AF2-445B464E7D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3220" y="3551902"/>
            <a:ext cx="4453131" cy="294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657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4A840E-9000-7441-BEB7-FFEE48A4F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Interpretations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A07C02-54FF-4B71-8E0D-7F4BCFC6A69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493500" y="6292334"/>
            <a:ext cx="412750" cy="182880"/>
          </a:xfrm>
        </p:spPr>
        <p:txBody>
          <a:bodyPr/>
          <a:lstStyle/>
          <a:p>
            <a:fld id="{7782931A-7D25-4B4B-9464-57AE418934A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851B7D-FBF7-3272-D743-8022BBBC7E53}"/>
              </a:ext>
            </a:extLst>
          </p:cNvPr>
          <p:cNvSpPr txBox="1"/>
          <p:nvPr/>
        </p:nvSpPr>
        <p:spPr>
          <a:xfrm>
            <a:off x="1030110" y="2225906"/>
            <a:ext cx="9732114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600">
                <a:solidFill>
                  <a:srgbClr val="000000"/>
                </a:solidFill>
                <a:ea typeface="+mn-lt"/>
                <a:cs typeface="+mn-lt"/>
              </a:rPr>
              <a:t>Brute Force is the slowest with Θ(n^2), while Divide and Conquer and Line Sweep are faster with Θ(n log n). BCO is fast but less reliable since it does not always give exact results.</a:t>
            </a:r>
          </a:p>
          <a:p>
            <a:pPr algn="l"/>
            <a:endParaRPr lang="en-US" sz="26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600">
                <a:solidFill>
                  <a:srgbClr val="000000"/>
                </a:solidFill>
                <a:ea typeface="+mn-lt"/>
                <a:cs typeface="+mn-lt"/>
              </a:rPr>
              <a:t>Divide and Conquer becomes much faster than Brute Force as input size increases, showing the impact of better time complexity. Divide and Conquer specifically gets better at n = 16.</a:t>
            </a:r>
            <a:endParaRPr lang="en-US" sz="2600">
              <a:solidFill>
                <a:srgbClr val="000000"/>
              </a:solidFill>
            </a:endParaRPr>
          </a:p>
          <a:p>
            <a:endParaRPr lang="en-US" sz="26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600">
                <a:solidFill>
                  <a:srgbClr val="000000"/>
                </a:solidFill>
                <a:ea typeface="+mn-lt"/>
                <a:cs typeface="+mn-lt"/>
              </a:rPr>
              <a:t>With our data, we can conclude that Line Sweep is the best algorithm to solve the Closest Pair problem.</a:t>
            </a:r>
          </a:p>
          <a:p>
            <a:endParaRPr lang="en-US" sz="240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2400">
              <a:solidFill>
                <a:srgbClr val="00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4918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3C5FC-7D0A-0A2C-20FF-FAB3F44CD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E23CF-AA96-F4B1-E94F-B42168695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271CC-DABB-DDD9-97FB-79D3DE084AE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3" name="Picture 2" descr="A graph with a line and numbers&#10;&#10;AI-generated content may be incorrect.">
            <a:extLst>
              <a:ext uri="{FF2B5EF4-FFF2-40B4-BE49-F238E27FC236}">
                <a16:creationId xmlns:a16="http://schemas.microsoft.com/office/drawing/2014/main" id="{47137527-8263-9F72-868D-EA6962284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13" y="2562728"/>
            <a:ext cx="4839039" cy="31954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890855-CB99-FB1D-23E4-AFA481F3F888}"/>
              </a:ext>
            </a:extLst>
          </p:cNvPr>
          <p:cNvSpPr txBox="1"/>
          <p:nvPr/>
        </p:nvSpPr>
        <p:spPr>
          <a:xfrm>
            <a:off x="647348" y="2586533"/>
            <a:ext cx="5750993" cy="33855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Deciding to generate datasets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Seeing the differences between the result BCO got and what the actual closest pair was, and how that changed (n = 256)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Comparing our algorithm results with 3D Closest Pair Algorithms</a:t>
            </a:r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052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CC851C4-ACBD-5CD5-C4E2-6619058B9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3A503-53A5-4F49-6B2B-3E4D1AF144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B9F5D8-5386-5F74-459B-CC15CEAE4236}"/>
              </a:ext>
            </a:extLst>
          </p:cNvPr>
          <p:cNvSpPr txBox="1"/>
          <p:nvPr/>
        </p:nvSpPr>
        <p:spPr>
          <a:xfrm>
            <a:off x="1028699" y="2006959"/>
            <a:ext cx="9756531" cy="2750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“Closest Pair of Points.” </a:t>
            </a:r>
            <a:r>
              <a:rPr lang="en-US" sz="1800" i="1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GeeksforGeeks</a:t>
            </a:r>
            <a:r>
              <a:rPr lang="en-US" sz="18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21 Apr. 2026, www.geeksforgeeks.org/dsa/closest-pair-of-points-using-divide-and-conquer-algorithm/.</a:t>
            </a:r>
          </a:p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“ChatGPT.” OpenAI, 2025, chat.openai.com/.</a:t>
            </a:r>
          </a:p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- The author(s) acknowledge the utilization of ChatGPT, a language model developed by OpenAI, in the preparation of this assignment. ChatGPT was employed in the following manner(s) within this assignment: code generation in sections of our 4 Python algorithm files.</a:t>
            </a:r>
          </a:p>
        </p:txBody>
      </p:sp>
    </p:spTree>
    <p:extLst>
      <p:ext uri="{BB962C8B-B14F-4D97-AF65-F5344CB8AC3E}">
        <p14:creationId xmlns:p14="http://schemas.microsoft.com/office/powerpoint/2010/main" val="2435647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04CBC4-0243-204C-B5D8-F76B92BCD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5555" y="1068341"/>
            <a:ext cx="7810500" cy="645284"/>
          </a:xfrm>
        </p:spPr>
        <p:txBody>
          <a:bodyPr/>
          <a:lstStyle/>
          <a:p>
            <a:pPr algn="ctr"/>
            <a:r>
              <a:rPr lang="en-US"/>
              <a:t>Questions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0166BBA-67F2-4018-A96E-8101731B482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93500" y="6292334"/>
            <a:ext cx="412750" cy="182880"/>
          </a:xfrm>
        </p:spPr>
        <p:txBody>
          <a:bodyPr/>
          <a:lstStyle/>
          <a:p>
            <a:fld id="{7782931A-7D25-4B4B-9464-57AE418934A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443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54657-AD45-1BDF-ACAB-BDF54DD49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7182FF4-4F4D-29BB-7F3E-7055D56B0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en-US"/>
              <a:t>Closest Pair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36D37-8413-1D96-2C2E-64B350E03A5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 lIns="0" tIns="0" rIns="0" bIns="0" anchor="t"/>
          <a:lstStyle/>
          <a:p>
            <a:r>
              <a:rPr lang="en-US" b="1"/>
              <a:t>Lydia Ballard, Sydney Frisbee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16373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35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issPresentation A_Win32_MW_JS_SL_v2" id="{44541DF4-21D6-4F7A-B904-007D7865A971}" vid="{47A233BE-44D9-439C-9A9E-AF9EA0822A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9D363B3-DC66-45B9-8B2A-DA220F5DD197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81B53F0-FE0E-4C4C-84FF-93580062270A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149A8C3-21EC-4C35-871F-CCC7148089A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654</Words>
  <Application>Microsoft Office PowerPoint</Application>
  <PresentationFormat>Widescreen</PresentationFormat>
  <Paragraphs>76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Arial,Sans-Serif</vt:lpstr>
      <vt:lpstr>Aptos</vt:lpstr>
      <vt:lpstr>Arial</vt:lpstr>
      <vt:lpstr>Arial Nova</vt:lpstr>
      <vt:lpstr>Calibri</vt:lpstr>
      <vt:lpstr>Courier New</vt:lpstr>
      <vt:lpstr>Wingdings</vt:lpstr>
      <vt:lpstr>Theme1</vt:lpstr>
      <vt:lpstr>Closest Pair Problem</vt:lpstr>
      <vt:lpstr>What is the Closest Pair Problem?</vt:lpstr>
      <vt:lpstr>Objectives</vt:lpstr>
      <vt:lpstr>Brute Force</vt:lpstr>
      <vt:lpstr>Divide and Conquer</vt:lpstr>
      <vt:lpstr>Line Sweep</vt:lpstr>
      <vt:lpstr>Bee Colony Optimization</vt:lpstr>
      <vt:lpstr>PowerPoint Presentation</vt:lpstr>
      <vt:lpstr>Results</vt:lpstr>
      <vt:lpstr>PowerPoint Presentation</vt:lpstr>
      <vt:lpstr>Interpretations</vt:lpstr>
      <vt:lpstr>Reflection</vt:lpstr>
      <vt:lpstr>Sources</vt:lpstr>
      <vt:lpstr>Questions</vt:lpstr>
      <vt:lpstr>Closest Pair Problem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Sydney F</cp:lastModifiedBy>
  <cp:revision>55</cp:revision>
  <dcterms:created xsi:type="dcterms:W3CDTF">2026-04-23T17:35:22Z</dcterms:created>
  <dcterms:modified xsi:type="dcterms:W3CDTF">2026-04-27T18:54:11Z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